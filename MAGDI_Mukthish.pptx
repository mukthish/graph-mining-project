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402138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Justin – PhD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Swarnadeep – ex-Phd, META FAIR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Elias – ex-Postdoc, Asst. Prof UT Austin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Mohit – Prof. UNC Chapel Hill</a:t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3.2: Built on top of p</a:t>
            </a:r>
            <a:r>
              <a:rPr lang="en-IN"/>
              <a:t>roprietary</a:t>
            </a:r>
            <a:r>
              <a:rPr lang="en-IN"/>
              <a:t> models, </a:t>
            </a:r>
            <a:r>
              <a:rPr lang="en-IN"/>
              <a:t>computationally and monetarily expensive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We use proprietary models because they can act as general conversational agents, handle long  handle long contexts, and follow instructions</a:t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Chain-of-</a:t>
            </a:r>
            <a:r>
              <a:rPr lang="en-IN"/>
              <a:t>Thought</a:t>
            </a:r>
            <a:r>
              <a:rPr lang="en-IN"/>
              <a:t>: The output is generated step-by-step.</a:t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5174f1d4c_0_15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5174f1d4c_0_15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1.</a:t>
            </a:r>
            <a:r>
              <a:rPr lang="en-IN"/>
              <a:t> student learns from the correct reasoning of multiple teachers.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2. </a:t>
            </a:r>
            <a:r>
              <a:rPr lang="en-IN"/>
              <a:t>student</a:t>
            </a:r>
            <a:r>
              <a:rPr lang="en-IN"/>
              <a:t> learns from both pre- and post-interaction data between multiple teachers.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3. student additionally distills from negative or incorrect reasoning from the teacher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 student learns from the output and graph-structure of teacher LLM interactions.</a:t>
            </a:r>
            <a:endParaRPr/>
          </a:p>
        </p:txBody>
      </p:sp>
      <p:sp>
        <p:nvSpPr>
          <p:cNvPr id="204" name="Google Shape;204;g3c5174f1d4c_0_15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5174f1d4c_0_20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5174f1d4c_0_20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Positive reasoning: </a:t>
            </a:r>
            <a:r>
              <a:rPr lang="en-IN"/>
              <a:t>next-token prediction objective (cross entropy)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Negative reasoning: contrastive loss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Interaction: pass graph through gcn to obtain a representation. Apply softmax to then use cross entropy.</a:t>
            </a:r>
            <a:endParaRPr/>
          </a:p>
        </p:txBody>
      </p:sp>
      <p:sp>
        <p:nvSpPr>
          <p:cNvPr id="216" name="Google Shape;216;g3c5174f1d4c_0_20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5174f1d4c_0_33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5174f1d4c_0_33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c5174f1d4c_0_33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 txBox="1"/>
          <p:nvPr>
            <p:ph idx="1" type="body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352800" y="3810000"/>
            <a:ext cx="8026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ITS_university_logo_whitevert.png" id="26" name="Google Shape;26;p2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 txBox="1"/>
          <p:nvPr/>
        </p:nvSpPr>
        <p:spPr>
          <a:xfrm>
            <a:off x="-101600" y="5257800"/>
            <a:ext cx="2946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IN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8" name="Google Shape;28;p2"/>
          <p:cNvSpPr txBox="1"/>
          <p:nvPr/>
        </p:nvSpPr>
        <p:spPr>
          <a:xfrm>
            <a:off x="203200" y="5666602"/>
            <a:ext cx="2540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99" name="Google Shape;99;p16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02" name="Google Shape;102;p16"/>
          <p:cNvPicPr preferRelativeResize="0"/>
          <p:nvPr/>
        </p:nvPicPr>
        <p:blipFill rotWithShape="1">
          <a:blip r:embed="rId2">
            <a:alphaModFix/>
          </a:blip>
          <a:srcRect b="5336" l="1923" r="0" t="0"/>
          <a:stretch/>
        </p:blipFill>
        <p:spPr>
          <a:xfrm>
            <a:off x="8839201" y="-1"/>
            <a:ext cx="2924257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6"/>
          <p:cNvGrpSpPr/>
          <p:nvPr/>
        </p:nvGrpSpPr>
        <p:grpSpPr>
          <a:xfrm>
            <a:off x="2844800" y="6553201"/>
            <a:ext cx="9347201" cy="45719"/>
            <a:chOff x="1905000" y="6553200"/>
            <a:chExt cx="7010400" cy="45719"/>
          </a:xfrm>
        </p:grpSpPr>
        <p:sp>
          <p:nvSpPr>
            <p:cNvPr id="104" name="Google Shape;104;p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0" y="1295401"/>
            <a:ext cx="9347201" cy="45719"/>
            <a:chOff x="1905000" y="6553200"/>
            <a:chExt cx="7010400" cy="45719"/>
          </a:xfrm>
        </p:grpSpPr>
        <p:sp>
          <p:nvSpPr>
            <p:cNvPr id="108" name="Google Shape;108;p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1" type="ftr"/>
          </p:nvPr>
        </p:nvSpPr>
        <p:spPr>
          <a:xfrm>
            <a:off x="0" y="6554056"/>
            <a:ext cx="12192000" cy="30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1815" y="6554055"/>
            <a:ext cx="1218018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8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3352680"/>
            <a:ext cx="11581200" cy="2742120"/>
          </a:xfrm>
          <a:prstGeom prst="rect">
            <a:avLst/>
          </a:prstGeom>
          <a:solidFill>
            <a:srgbClr val="101141"/>
          </a:solidFill>
          <a:ln>
            <a:noFill/>
          </a:ln>
          <a:effectLst>
            <a:outerShdw blurRad="4000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860640" y="6095880"/>
            <a:ext cx="3859560" cy="75240"/>
          </a:xfrm>
          <a:prstGeom prst="rect">
            <a:avLst/>
          </a:prstGeom>
          <a:solidFill>
            <a:srgbClr val="76C2E5"/>
          </a:solidFill>
          <a:ln>
            <a:noFill/>
          </a:ln>
          <a:effectLst>
            <a:outerShdw blurRad="4000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6095880"/>
            <a:ext cx="3859560" cy="75240"/>
          </a:xfrm>
          <a:prstGeom prst="rect">
            <a:avLst/>
          </a:prstGeom>
          <a:solidFill>
            <a:srgbClr val="FCB017"/>
          </a:solidFill>
          <a:ln>
            <a:noFill/>
          </a:ln>
          <a:effectLst>
            <a:outerShdw blurRad="4000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7721640" y="6095880"/>
            <a:ext cx="3859560" cy="7524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000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28589" l="0" r="0" t="0"/>
          <a:stretch/>
        </p:blipFill>
        <p:spPr>
          <a:xfrm>
            <a:off x="101520" y="3352680"/>
            <a:ext cx="2742120" cy="197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-101520" y="5257800"/>
            <a:ext cx="2945160" cy="531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IN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03040" y="5666760"/>
            <a:ext cx="2539080" cy="2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4368960" y="6596280"/>
            <a:ext cx="782208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lang="en-IN" sz="1100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15"/>
          <p:cNvGrpSpPr/>
          <p:nvPr/>
        </p:nvGrpSpPr>
        <p:grpSpPr>
          <a:xfrm>
            <a:off x="2778480" y="6550560"/>
            <a:ext cx="9412560" cy="47520"/>
            <a:chOff x="2778480" y="6550560"/>
            <a:chExt cx="9412560" cy="47520"/>
          </a:xfrm>
        </p:grpSpPr>
        <p:sp>
          <p:nvSpPr>
            <p:cNvPr id="83" name="Google Shape;83;p15"/>
            <p:cNvSpPr/>
            <p:nvPr/>
          </p:nvSpPr>
          <p:spPr>
            <a:xfrm>
              <a:off x="6174000" y="6550560"/>
              <a:ext cx="3103560" cy="4752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9210600" y="6550560"/>
              <a:ext cx="2980440" cy="4464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778480" y="6550560"/>
              <a:ext cx="3439800" cy="4752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6" name="Google Shape;86;p15"/>
          <p:cNvPicPr preferRelativeResize="0"/>
          <p:nvPr/>
        </p:nvPicPr>
        <p:blipFill rotWithShape="1">
          <a:blip r:embed="rId1">
            <a:alphaModFix/>
          </a:blip>
          <a:srcRect b="5315" l="1916" r="0" t="0"/>
          <a:stretch/>
        </p:blipFill>
        <p:spPr>
          <a:xfrm>
            <a:off x="8839080" y="0"/>
            <a:ext cx="2923200" cy="691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5"/>
          <p:cNvGrpSpPr/>
          <p:nvPr/>
        </p:nvGrpSpPr>
        <p:grpSpPr>
          <a:xfrm>
            <a:off x="2844720" y="6553080"/>
            <a:ext cx="9345960" cy="44640"/>
            <a:chOff x="2844720" y="6553080"/>
            <a:chExt cx="9345960" cy="44640"/>
          </a:xfrm>
        </p:grpSpPr>
        <p:sp>
          <p:nvSpPr>
            <p:cNvPr id="88" name="Google Shape;88;p15"/>
            <p:cNvSpPr/>
            <p:nvPr/>
          </p:nvSpPr>
          <p:spPr>
            <a:xfrm>
              <a:off x="5994360" y="6553080"/>
              <a:ext cx="3103560" cy="446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844720" y="6553080"/>
              <a:ext cx="3148560" cy="446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9087120" y="6553080"/>
              <a:ext cx="3103560" cy="446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0" y="1295280"/>
            <a:ext cx="9345960" cy="44640"/>
            <a:chOff x="0" y="1295280"/>
            <a:chExt cx="9345960" cy="44640"/>
          </a:xfrm>
        </p:grpSpPr>
        <p:sp>
          <p:nvSpPr>
            <p:cNvPr id="92" name="Google Shape;92;p15"/>
            <p:cNvSpPr/>
            <p:nvPr/>
          </p:nvSpPr>
          <p:spPr>
            <a:xfrm>
              <a:off x="3149640" y="1295280"/>
              <a:ext cx="3103560" cy="446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0" y="1295280"/>
              <a:ext cx="3148560" cy="446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6242400" y="1295280"/>
              <a:ext cx="3103560" cy="446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733800" y="4724400"/>
            <a:ext cx="6324601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00">
                <a:solidFill>
                  <a:srgbClr val="FFFFFF"/>
                </a:solidFill>
              </a:rPr>
              <a:t>Justin Chih-Yao Chen, Swarnadeep Saha, Elias Stengel-Eskin, Mohit Bansal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00">
                <a:solidFill>
                  <a:srgbClr val="FFFFFF"/>
                </a:solidFill>
              </a:rPr>
              <a:t>ICML 2024</a:t>
            </a:r>
            <a:br>
              <a:rPr lang="en-IN" sz="1400">
                <a:solidFill>
                  <a:srgbClr val="FFFFFF"/>
                </a:solidFill>
              </a:rPr>
            </a:br>
            <a:r>
              <a:rPr lang="en-IN" sz="1400">
                <a:solidFill>
                  <a:srgbClr val="FFFFFF"/>
                </a:solidFill>
              </a:rPr>
              <a:t>  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00">
                <a:solidFill>
                  <a:srgbClr val="FFFFFF"/>
                </a:solidFill>
              </a:rPr>
              <a:t>Presented By: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400">
                <a:solidFill>
                  <a:srgbClr val="FFFFFF"/>
                </a:solidFill>
              </a:rPr>
              <a:t>Mukthish B</a:t>
            </a:r>
            <a:endParaRPr sz="1600"/>
          </a:p>
        </p:txBody>
      </p:sp>
      <p:sp>
        <p:nvSpPr>
          <p:cNvPr id="169" name="Google Shape;169;p30"/>
          <p:cNvSpPr txBox="1"/>
          <p:nvPr/>
        </p:nvSpPr>
        <p:spPr>
          <a:xfrm>
            <a:off x="3733800" y="3352798"/>
            <a:ext cx="670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rgbClr val="FFFFFF"/>
                </a:solidFill>
              </a:rPr>
              <a:t>MAGDI: Structured Distillation of Multi-Agent Interaction Graphs Improves Reasoning in Smaller Language Models</a:t>
            </a:r>
            <a:endParaRPr b="1" sz="24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10058401" y="0"/>
            <a:ext cx="207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rgbClr val="FFFFFF"/>
                </a:solidFill>
              </a:rPr>
              <a:t>Date: 05-03-2026</a:t>
            </a:r>
            <a:endParaRPr sz="18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406400" y="1738751"/>
            <a:ext cx="10501200" cy="3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Multi-agent interactions: A collaborative setting where multiple Large Language Model (LLM) agents engage in a structured, multi-round discussion to solve a task.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Pros: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IN" sz="2400">
                <a:solidFill>
                  <a:schemeClr val="dk1"/>
                </a:solidFill>
              </a:rPr>
              <a:t>major improvements on diverse reasoning tasks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Cons: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IN" sz="2400">
                <a:solidFill>
                  <a:schemeClr val="dk1"/>
                </a:solidFill>
              </a:rPr>
              <a:t>long generation time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IN" sz="2400">
                <a:solidFill>
                  <a:schemeClr val="dk1"/>
                </a:solidFill>
              </a:rPr>
              <a:t>r</a:t>
            </a:r>
            <a:r>
              <a:rPr lang="en-IN" sz="2400">
                <a:solidFill>
                  <a:schemeClr val="dk1"/>
                </a:solidFill>
              </a:rPr>
              <a:t>equires</a:t>
            </a:r>
            <a:r>
              <a:rPr lang="en-IN" sz="2400">
                <a:solidFill>
                  <a:schemeClr val="dk1"/>
                </a:solidFill>
              </a:rPr>
              <a:t> multiple models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IN" sz="2400">
                <a:solidFill>
                  <a:schemeClr val="dk1"/>
                </a:solidFill>
              </a:rPr>
              <a:t>r</a:t>
            </a:r>
            <a:r>
              <a:rPr lang="en-IN" sz="2400">
                <a:solidFill>
                  <a:schemeClr val="dk1"/>
                </a:solidFill>
              </a:rPr>
              <a:t>equires multiple rounds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7319075" y="4668750"/>
            <a:ext cx="235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EXPENSIVE!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8" name="Google Shape;178;p31"/>
          <p:cNvSpPr/>
          <p:nvPr/>
        </p:nvSpPr>
        <p:spPr>
          <a:xfrm>
            <a:off x="5265000" y="4561050"/>
            <a:ext cx="1662000" cy="83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1"/>
          <p:cNvSpPr txBox="1"/>
          <p:nvPr/>
        </p:nvSpPr>
        <p:spPr>
          <a:xfrm>
            <a:off x="406400" y="5530750"/>
            <a:ext cx="105012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The multi-agent approaches also fail to provide a final, joint model for efficient inference and require all interacting LLMs at test time.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Aim</a:t>
            </a:r>
            <a:endParaRPr/>
          </a:p>
        </p:txBody>
      </p:sp>
      <p:sp>
        <p:nvSpPr>
          <p:cNvPr id="185" name="Google Shape;185;p32"/>
          <p:cNvSpPr txBox="1"/>
          <p:nvPr/>
        </p:nvSpPr>
        <p:spPr>
          <a:xfrm>
            <a:off x="406400" y="1516426"/>
            <a:ext cx="103458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To reduce cost by teaching reasoning to smaller language models via structured distillation of the interactions between multiple stronger teacher models.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6" name="Google Shape;186;p32"/>
          <p:cNvSpPr txBox="1"/>
          <p:nvPr/>
        </p:nvSpPr>
        <p:spPr>
          <a:xfrm>
            <a:off x="3030802" y="3024150"/>
            <a:ext cx="5097000" cy="2401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Distillation: A compression technique where a smaller, more efficient model (“student”) is trained to replicate the behavior, reasoning, and performance of a much larger, more complex model (“teacher”).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MAGDI </a:t>
            </a:r>
            <a:endParaRPr/>
          </a:p>
        </p:txBody>
      </p:sp>
      <p:sp>
        <p:nvSpPr>
          <p:cNvPr id="192" name="Google Shape;192;p33"/>
          <p:cNvSpPr txBox="1"/>
          <p:nvPr/>
        </p:nvSpPr>
        <p:spPr>
          <a:xfrm>
            <a:off x="406400" y="2111575"/>
            <a:ext cx="5689500" cy="29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MAGDI: </a:t>
            </a:r>
            <a:r>
              <a:rPr b="1" lang="en-IN" sz="2400"/>
              <a:t>M</a:t>
            </a:r>
            <a:r>
              <a:rPr lang="en-IN" sz="2400"/>
              <a:t>ulti-</a:t>
            </a:r>
            <a:r>
              <a:rPr b="1" lang="en-IN" sz="2400"/>
              <a:t>A</a:t>
            </a:r>
            <a:r>
              <a:rPr lang="en-IN" sz="2400"/>
              <a:t>gent Interaction </a:t>
            </a:r>
            <a:r>
              <a:rPr b="1" lang="en-IN" sz="2400"/>
              <a:t>G</a:t>
            </a:r>
            <a:r>
              <a:rPr lang="en-IN" sz="2400"/>
              <a:t>raphs </a:t>
            </a:r>
            <a:r>
              <a:rPr b="1" lang="en-IN" sz="2400"/>
              <a:t>Di</a:t>
            </a:r>
            <a:r>
              <a:rPr lang="en-IN" sz="2400"/>
              <a:t>stillation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Teach a single, highly efficient student model to reason like a multi-agent setup by structured distillation of their reasoning.</a:t>
            </a:r>
            <a:endParaRPr sz="2400"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00" y="2051088"/>
            <a:ext cx="5791301" cy="3061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Multi-Agent Interaction Graph (MAG)</a:t>
            </a:r>
            <a:endParaRPr/>
          </a:p>
        </p:txBody>
      </p:sp>
      <p:sp>
        <p:nvSpPr>
          <p:cNvPr id="199" name="Google Shape;199;p34"/>
          <p:cNvSpPr txBox="1"/>
          <p:nvPr/>
        </p:nvSpPr>
        <p:spPr>
          <a:xfrm>
            <a:off x="718450" y="1907175"/>
            <a:ext cx="5377500" cy="42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A MAG is a directed a directed acyclic graph that captures the iterative process of how agents refine their reasoning through discussion.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MAG </a:t>
            </a:r>
            <a:r>
              <a:rPr lang="en-IN" sz="1800"/>
              <a:t>consists</a:t>
            </a:r>
            <a:r>
              <a:rPr lang="en-IN" sz="1800"/>
              <a:t> of: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Nodes (V): represents Chain-of-Thought (CoT) reasoning for a given problem.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Node Labels: Every node is annotated with a binary label indicating the correctness of the answer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Edges (E): denote conditional dependencies between the agents’ </a:t>
            </a:r>
            <a:r>
              <a:rPr lang="en-IN" sz="1800"/>
              <a:t>interaction</a:t>
            </a:r>
            <a:r>
              <a:rPr lang="en-IN" sz="1800"/>
              <a:t>.</a:t>
            </a:r>
            <a:endParaRPr sz="1800"/>
          </a:p>
        </p:txBody>
      </p:sp>
      <p:pic>
        <p:nvPicPr>
          <p:cNvPr id="200" name="Google Shape;2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50" y="2902250"/>
            <a:ext cx="5791250" cy="223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 Levels of MAG:</a:t>
            </a:r>
            <a:endParaRPr/>
          </a:p>
        </p:txBody>
      </p:sp>
      <p:sp>
        <p:nvSpPr>
          <p:cNvPr id="207" name="Google Shape;207;p35"/>
          <p:cNvSpPr txBox="1"/>
          <p:nvPr/>
        </p:nvSpPr>
        <p:spPr>
          <a:xfrm>
            <a:off x="406400" y="1689925"/>
            <a:ext cx="5689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Given a reasoning problem, MAGs capture rich knowledge that enables model reasoning.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This knowledge is captured through the following 4 level: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IN" sz="2400">
                <a:solidFill>
                  <a:schemeClr val="dk1"/>
                </a:solidFill>
              </a:rPr>
              <a:t>Level 1:</a:t>
            </a:r>
            <a:r>
              <a:rPr lang="en-IN" sz="2400">
                <a:solidFill>
                  <a:schemeClr val="dk1"/>
                </a:solidFill>
              </a:rPr>
              <a:t> Learning from multiple teachers.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IN" sz="2400">
                <a:solidFill>
                  <a:schemeClr val="dk1"/>
                </a:solidFill>
              </a:rPr>
              <a:t>Level 2:</a:t>
            </a:r>
            <a:r>
              <a:rPr lang="en-IN" sz="2400">
                <a:solidFill>
                  <a:schemeClr val="dk1"/>
                </a:solidFill>
              </a:rPr>
              <a:t> Learning from teacher interactions.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IN" sz="2400">
                <a:solidFill>
                  <a:schemeClr val="dk1"/>
                </a:solidFill>
              </a:rPr>
              <a:t>Level 3:</a:t>
            </a:r>
            <a:r>
              <a:rPr lang="en-IN" sz="2400">
                <a:solidFill>
                  <a:schemeClr val="dk1"/>
                </a:solidFill>
              </a:rPr>
              <a:t> Learning from negative reasoning.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IN" sz="2400">
                <a:solidFill>
                  <a:schemeClr val="dk1"/>
                </a:solidFill>
              </a:rPr>
              <a:t>Level 4:</a:t>
            </a:r>
            <a:r>
              <a:rPr lang="en-IN" sz="2400">
                <a:solidFill>
                  <a:schemeClr val="dk1"/>
                </a:solidFill>
              </a:rPr>
              <a:t> Learning from structure.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00" y="1689925"/>
            <a:ext cx="2743198" cy="146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3750" y="1690813"/>
            <a:ext cx="2743200" cy="145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7838" y="3546175"/>
            <a:ext cx="2799325" cy="1506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13047" y="3569563"/>
            <a:ext cx="2724605" cy="14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5"/>
          <p:cNvSpPr txBox="1"/>
          <p:nvPr/>
        </p:nvSpPr>
        <p:spPr>
          <a:xfrm>
            <a:off x="6095900" y="5447400"/>
            <a:ext cx="5751000" cy="53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chemeClr val="dk1"/>
                </a:solidFill>
              </a:rPr>
              <a:t>NOTE: We limit the number of rounds to 3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Three-Part Objective</a:t>
            </a:r>
            <a:endParaRPr/>
          </a:p>
        </p:txBody>
      </p:sp>
      <p:pic>
        <p:nvPicPr>
          <p:cNvPr id="219" name="Google Shape;2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0425"/>
            <a:ext cx="11887200" cy="396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Experimental Setup</a:t>
            </a:r>
            <a:endParaRPr/>
          </a:p>
        </p:txBody>
      </p:sp>
      <p:sp>
        <p:nvSpPr>
          <p:cNvPr id="225" name="Google Shape;225;p37"/>
          <p:cNvSpPr txBox="1"/>
          <p:nvPr/>
        </p:nvSpPr>
        <p:spPr>
          <a:xfrm>
            <a:off x="406400" y="1628125"/>
            <a:ext cx="11318400" cy="46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Student Model: Mistral-7B-Instruct, LLaMA-2-7B-Chat, LLaMA-2-13B-Chat.</a:t>
            </a:r>
            <a:endParaRPr sz="2400"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Teacher Models: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IN" sz="2400"/>
              <a:t>Claude2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IN" sz="2400"/>
              <a:t>Bard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IN" sz="2400"/>
              <a:t>GPT4</a:t>
            </a:r>
            <a:endParaRPr sz="2400"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Discussion Type: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IN" sz="2400"/>
              <a:t>ReCONCILE: Each subsequent round of interaction on all agent outputs from the previous round.</a:t>
            </a:r>
            <a:endParaRPr sz="2400"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Datasets: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IN" sz="2400"/>
              <a:t>In Domain: StrategyQA, CommonsenseQA, ARC-c, GSM8K, MATH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IN" sz="2400"/>
              <a:t>Out of Domain: BoolQ, SVAMP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Results</a:t>
            </a:r>
            <a:endParaRPr/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7800"/>
            <a:ext cx="5943602" cy="252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447800"/>
            <a:ext cx="5665550" cy="25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/>
          <p:cNvSpPr txBox="1"/>
          <p:nvPr/>
        </p:nvSpPr>
        <p:spPr>
          <a:xfrm>
            <a:off x="406400" y="3974100"/>
            <a:ext cx="5665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>
                <a:solidFill>
                  <a:schemeClr val="dk1"/>
                </a:solidFill>
              </a:rPr>
              <a:t>MAGDI performed: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IN" sz="2200">
                <a:solidFill>
                  <a:schemeClr val="dk1"/>
                </a:solidFill>
              </a:rPr>
              <a:t>10.71% better than the base student model (Mistral-7B) 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IN" sz="2200">
                <a:solidFill>
                  <a:schemeClr val="dk1"/>
                </a:solidFill>
              </a:rPr>
              <a:t>4.61% better than model distilled using single teacher (SiT-GPT4).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6096000" y="3974100"/>
            <a:ext cx="507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>
                <a:solidFill>
                  <a:schemeClr val="dk1"/>
                </a:solidFill>
              </a:rPr>
              <a:t>MAGDI on average generated 4.5x less tokens than ReCONCILE.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/>
        </p:nvSpPr>
        <p:spPr>
          <a:xfrm>
            <a:off x="4185669" y="2921168"/>
            <a:ext cx="38206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